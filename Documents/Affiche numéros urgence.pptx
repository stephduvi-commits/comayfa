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EC9949-1D43-4585-822E-FE1AD8C1CF15}" v="12" dt="2025-10-16T10:34:40.3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34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Geneviève" userId="d19dec01-97c3-4c53-8c6e-b4741b119b94" providerId="ADAL" clId="{A6EC9949-1D43-4585-822E-FE1AD8C1CF15}"/>
    <pc:docChg chg="undo custSel modSld">
      <pc:chgData name="Taylor Geneviève" userId="d19dec01-97c3-4c53-8c6e-b4741b119b94" providerId="ADAL" clId="{A6EC9949-1D43-4585-822E-FE1AD8C1CF15}" dt="2025-10-16T10:33:59.665" v="63" actId="20577"/>
      <pc:docMkLst>
        <pc:docMk/>
      </pc:docMkLst>
      <pc:sldChg chg="modSp mod">
        <pc:chgData name="Taylor Geneviève" userId="d19dec01-97c3-4c53-8c6e-b4741b119b94" providerId="ADAL" clId="{A6EC9949-1D43-4585-822E-FE1AD8C1CF15}" dt="2025-10-16T10:33:59.665" v="63" actId="20577"/>
        <pc:sldMkLst>
          <pc:docMk/>
          <pc:sldMk cId="679607776" sldId="256"/>
        </pc:sldMkLst>
        <pc:spChg chg="mod">
          <ac:chgData name="Taylor Geneviève" userId="d19dec01-97c3-4c53-8c6e-b4741b119b94" providerId="ADAL" clId="{A6EC9949-1D43-4585-822E-FE1AD8C1CF15}" dt="2025-10-16T10:33:59.665" v="63" actId="20577"/>
          <ac:spMkLst>
            <pc:docMk/>
            <pc:sldMk cId="679607776" sldId="256"/>
            <ac:spMk id="2" creationId="{8C8CA36E-AC62-036D-2CCF-DB177DE61D02}"/>
          </ac:spMkLst>
        </pc:spChg>
        <pc:spChg chg="mod">
          <ac:chgData name="Taylor Geneviève" userId="d19dec01-97c3-4c53-8c6e-b4741b119b94" providerId="ADAL" clId="{A6EC9949-1D43-4585-822E-FE1AD8C1CF15}" dt="2025-09-17T13:42:38.857" v="46" actId="20577"/>
          <ac:spMkLst>
            <pc:docMk/>
            <pc:sldMk cId="679607776" sldId="256"/>
            <ac:spMk id="23" creationId="{6F700C0D-AE6F-C028-3E38-0943EC9C4952}"/>
          </ac:spMkLst>
        </pc:spChg>
        <pc:graphicFrameChg chg="modGraphic">
          <ac:chgData name="Taylor Geneviève" userId="d19dec01-97c3-4c53-8c6e-b4741b119b94" providerId="ADAL" clId="{A6EC9949-1D43-4585-822E-FE1AD8C1CF15}" dt="2025-09-17T13:42:52.744" v="53" actId="20577"/>
          <ac:graphicFrameMkLst>
            <pc:docMk/>
            <pc:sldMk cId="679607776" sldId="256"/>
            <ac:graphicFrameMk id="12" creationId="{8AAE5876-71BA-CA0D-B7AE-5A8AAD280898}"/>
          </ac:graphicFrameMkLst>
        </pc:graphicFrameChg>
        <pc:graphicFrameChg chg="modGraphic">
          <ac:chgData name="Taylor Geneviève" userId="d19dec01-97c3-4c53-8c6e-b4741b119b94" providerId="ADAL" clId="{A6EC9949-1D43-4585-822E-FE1AD8C1CF15}" dt="2025-10-06T07:15:13.764" v="57" actId="20577"/>
          <ac:graphicFrameMkLst>
            <pc:docMk/>
            <pc:sldMk cId="679607776" sldId="256"/>
            <ac:graphicFrameMk id="14" creationId="{7370745F-D1D4-A0ED-1D9D-30F022BCF03F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F82E-9271-4C9D-9E7F-ABCC888AEDA5}" type="datetimeFigureOut">
              <a:rPr lang="fr-BE" smtClean="0"/>
              <a:t>16-10-25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D7E8-17DD-4686-9D43-41E88A3D269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3613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F82E-9271-4C9D-9E7F-ABCC888AEDA5}" type="datetimeFigureOut">
              <a:rPr lang="fr-BE" smtClean="0"/>
              <a:t>16-10-25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D7E8-17DD-4686-9D43-41E88A3D269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31805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F82E-9271-4C9D-9E7F-ABCC888AEDA5}" type="datetimeFigureOut">
              <a:rPr lang="fr-BE" smtClean="0"/>
              <a:t>16-10-25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D7E8-17DD-4686-9D43-41E88A3D269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7493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F82E-9271-4C9D-9E7F-ABCC888AEDA5}" type="datetimeFigureOut">
              <a:rPr lang="fr-BE" smtClean="0"/>
              <a:t>16-10-25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D7E8-17DD-4686-9D43-41E88A3D269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094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F82E-9271-4C9D-9E7F-ABCC888AEDA5}" type="datetimeFigureOut">
              <a:rPr lang="fr-BE" smtClean="0"/>
              <a:t>16-10-25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D7E8-17DD-4686-9D43-41E88A3D269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38265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F82E-9271-4C9D-9E7F-ABCC888AEDA5}" type="datetimeFigureOut">
              <a:rPr lang="fr-BE" smtClean="0"/>
              <a:t>16-10-25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D7E8-17DD-4686-9D43-41E88A3D269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79869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F82E-9271-4C9D-9E7F-ABCC888AEDA5}" type="datetimeFigureOut">
              <a:rPr lang="fr-BE" smtClean="0"/>
              <a:t>16-10-25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D7E8-17DD-4686-9D43-41E88A3D269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4593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F82E-9271-4C9D-9E7F-ABCC888AEDA5}" type="datetimeFigureOut">
              <a:rPr lang="fr-BE" smtClean="0"/>
              <a:t>16-10-25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D7E8-17DD-4686-9D43-41E88A3D269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56196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F82E-9271-4C9D-9E7F-ABCC888AEDA5}" type="datetimeFigureOut">
              <a:rPr lang="fr-BE" smtClean="0"/>
              <a:t>16-10-25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D7E8-17DD-4686-9D43-41E88A3D269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8612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F82E-9271-4C9D-9E7F-ABCC888AEDA5}" type="datetimeFigureOut">
              <a:rPr lang="fr-BE" smtClean="0"/>
              <a:t>16-10-25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D7E8-17DD-4686-9D43-41E88A3D269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7573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F82E-9271-4C9D-9E7F-ABCC888AEDA5}" type="datetimeFigureOut">
              <a:rPr lang="fr-BE" smtClean="0"/>
              <a:t>16-10-25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D7E8-17DD-4686-9D43-41E88A3D269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19636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DF82E-9271-4C9D-9E7F-ABCC888AEDA5}" type="datetimeFigureOut">
              <a:rPr lang="fr-BE" smtClean="0"/>
              <a:t>16-10-25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ED7E8-17DD-4686-9D43-41E88A3D269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8004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F9CAD13-E8C3-E882-047F-67CF5B7019D6}"/>
              </a:ext>
            </a:extLst>
          </p:cNvPr>
          <p:cNvSpPr/>
          <p:nvPr/>
        </p:nvSpPr>
        <p:spPr>
          <a:xfrm>
            <a:off x="182879" y="5240610"/>
            <a:ext cx="6492240" cy="29127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82F111-4F38-7AD8-2C10-87F20E84852D}"/>
              </a:ext>
            </a:extLst>
          </p:cNvPr>
          <p:cNvSpPr/>
          <p:nvPr/>
        </p:nvSpPr>
        <p:spPr>
          <a:xfrm>
            <a:off x="2194560" y="6096000"/>
            <a:ext cx="2423160" cy="12039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333962-28C1-F256-5604-FA7AA88A99CB}"/>
              </a:ext>
            </a:extLst>
          </p:cNvPr>
          <p:cNvSpPr/>
          <p:nvPr/>
        </p:nvSpPr>
        <p:spPr>
          <a:xfrm>
            <a:off x="182879" y="1902780"/>
            <a:ext cx="6492240" cy="321786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78ED83-AF2B-714B-6B55-98D53A7D9582}"/>
              </a:ext>
            </a:extLst>
          </p:cNvPr>
          <p:cNvSpPr/>
          <p:nvPr/>
        </p:nvSpPr>
        <p:spPr>
          <a:xfrm>
            <a:off x="350520" y="1493520"/>
            <a:ext cx="6141720" cy="990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CA36E-AC62-036D-2CCF-DB177DE61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9" y="375557"/>
            <a:ext cx="6141719" cy="11511643"/>
          </a:xfrm>
        </p:spPr>
        <p:txBody>
          <a:bodyPr>
            <a:normAutofit/>
          </a:bodyPr>
          <a:lstStyle/>
          <a:p>
            <a:pPr algn="l"/>
            <a:br>
              <a:rPr lang="fr-BE" sz="1400" b="1" dirty="0"/>
            </a:br>
            <a:br>
              <a:rPr lang="fr-BE" sz="1400" b="1" dirty="0"/>
            </a:br>
            <a:br>
              <a:rPr lang="fr-BE" sz="1400" b="1" dirty="0"/>
            </a:br>
            <a:br>
              <a:rPr lang="fr-BE" sz="1400" b="1" dirty="0"/>
            </a:br>
            <a:br>
              <a:rPr lang="fr-BE" sz="1400" b="1" dirty="0"/>
            </a:br>
            <a:br>
              <a:rPr lang="fr-BE" sz="1400" b="1" dirty="0"/>
            </a:br>
            <a:r>
              <a:rPr lang="fr-BE" sz="1400" b="1" dirty="0"/>
              <a:t>Localisation /</a:t>
            </a:r>
            <a:r>
              <a:rPr lang="fr-BE" sz="1400" dirty="0"/>
              <a:t> 		Camp Adjudant Brasseur			</a:t>
            </a:r>
            <a:br>
              <a:rPr lang="fr-BE" sz="1400" dirty="0"/>
            </a:br>
            <a:r>
              <a:rPr lang="nl-BE" sz="1400" dirty="0"/>
              <a:t> </a:t>
            </a:r>
            <a:r>
              <a:rPr lang="nl-BE" sz="1400" b="1" i="1" dirty="0"/>
              <a:t>Localisatie</a:t>
            </a:r>
            <a:r>
              <a:rPr lang="nl-BE" sz="1400" dirty="0"/>
              <a:t> </a:t>
            </a:r>
            <a:r>
              <a:rPr lang="fr-BE" sz="1400" dirty="0"/>
              <a:t>		       </a:t>
            </a:r>
            <a:r>
              <a:rPr lang="nl-BE" sz="1400" dirty="0"/>
              <a:t> 1A 4540 Amay </a:t>
            </a:r>
            <a:r>
              <a:rPr lang="fr-BE" sz="1400" dirty="0"/>
              <a:t>	</a:t>
            </a:r>
            <a:br>
              <a:rPr lang="fr-BE" sz="1400" dirty="0"/>
            </a:br>
            <a:r>
              <a:rPr lang="fr-BE" sz="1400" dirty="0"/>
              <a:t>		</a:t>
            </a:r>
            <a:br>
              <a:rPr lang="fr-BE" sz="1400" dirty="0"/>
            </a:br>
            <a:r>
              <a:rPr lang="fr-BE" sz="1400" dirty="0"/>
              <a:t>Bloc/</a:t>
            </a:r>
            <a:r>
              <a:rPr lang="fr-BE" sz="1400" i="1" dirty="0"/>
              <a:t>Blok</a:t>
            </a:r>
            <a:r>
              <a:rPr lang="fr-BE" sz="1400" dirty="0"/>
              <a:t>  		Etage/</a:t>
            </a:r>
            <a:r>
              <a:rPr lang="fr-BE" sz="1400" i="1" dirty="0"/>
              <a:t>Verdieping</a:t>
            </a:r>
            <a:r>
              <a:rPr lang="fr-BE" sz="1400" dirty="0"/>
              <a:t>		Aile/</a:t>
            </a:r>
            <a:r>
              <a:rPr lang="fr-BE" sz="1400" i="1" dirty="0"/>
              <a:t>Vleugel</a:t>
            </a:r>
            <a:r>
              <a:rPr lang="fr-BE" sz="1400" dirty="0"/>
              <a:t> </a:t>
            </a:r>
            <a:r>
              <a:rPr lang="nl-BE" sz="1400" dirty="0"/>
              <a:t>	</a:t>
            </a:r>
            <a:br>
              <a:rPr lang="fr-BE" sz="1400" dirty="0"/>
            </a:br>
            <a:endParaRPr lang="fr-BE" sz="1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435E926-0781-92A0-FBD4-D738066448C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858000" cy="1493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 sz="44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Numéros</a:t>
            </a:r>
            <a:r>
              <a:rPr lang="nl-BE" sz="4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nl-BE" sz="44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d’urgence</a:t>
            </a:r>
            <a:br>
              <a:rPr lang="nl-BE" sz="4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nl-BE" sz="4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Noodnummers</a:t>
            </a:r>
            <a:endParaRPr lang="fr-BE" sz="4400" i="1" u="sng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23A0FA37-E67C-BED4-CF90-62849529AAF0}"/>
              </a:ext>
            </a:extLst>
          </p:cNvPr>
          <p:cNvSpPr txBox="1">
            <a:spLocks/>
          </p:cNvSpPr>
          <p:nvPr/>
        </p:nvSpPr>
        <p:spPr>
          <a:xfrm>
            <a:off x="68580" y="1493520"/>
            <a:ext cx="6720840" cy="8185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BE" sz="1600" dirty="0">
                <a:solidFill>
                  <a:srgbClr val="FFFF00"/>
                </a:solidFill>
              </a:rPr>
              <a:t>Informer </a:t>
            </a:r>
            <a:r>
              <a:rPr lang="fr-BE" sz="1600" b="1" dirty="0">
                <a:solidFill>
                  <a:srgbClr val="FFFF00"/>
                </a:solidFill>
              </a:rPr>
              <a:t>TOUJOURS</a:t>
            </a:r>
            <a:r>
              <a:rPr lang="fr-BE" sz="1600" dirty="0">
                <a:solidFill>
                  <a:srgbClr val="FFFF00"/>
                </a:solidFill>
              </a:rPr>
              <a:t> le corps de garde en cas d’incident ou d’accident !</a:t>
            </a:r>
            <a:br>
              <a:rPr lang="fr-BE" sz="1600" dirty="0">
                <a:solidFill>
                  <a:srgbClr val="FFFF00"/>
                </a:solidFill>
              </a:rPr>
            </a:br>
            <a:r>
              <a:rPr lang="nl-BE" sz="1600" i="1" dirty="0">
                <a:solidFill>
                  <a:srgbClr val="FFFF00"/>
                </a:solidFill>
              </a:rPr>
              <a:t>Verwittig </a:t>
            </a:r>
            <a:r>
              <a:rPr lang="nl-BE" sz="1600" b="1" i="1" dirty="0">
                <a:solidFill>
                  <a:srgbClr val="FFFF00"/>
                </a:solidFill>
              </a:rPr>
              <a:t>STEEDS</a:t>
            </a:r>
            <a:r>
              <a:rPr lang="nl-BE" sz="1600" i="1" dirty="0">
                <a:solidFill>
                  <a:srgbClr val="FFFF00"/>
                </a:solidFill>
              </a:rPr>
              <a:t> de wacht bij een incident of ongeval</a:t>
            </a:r>
            <a:r>
              <a:rPr lang="nl-BE" sz="1800" i="1" dirty="0">
                <a:solidFill>
                  <a:srgbClr val="FFFF00"/>
                </a:solidFill>
              </a:rPr>
              <a:t>!</a:t>
            </a:r>
            <a:endParaRPr lang="fr-BE" sz="1800" i="1" dirty="0">
              <a:solidFill>
                <a:srgbClr val="FFFF00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AAE5876-71BA-CA0D-B7AE-5A8AAD280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369654"/>
              </p:ext>
            </p:extLst>
          </p:nvPr>
        </p:nvGraphicFramePr>
        <p:xfrm>
          <a:off x="720269" y="2687598"/>
          <a:ext cx="5417461" cy="1170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17461">
                  <a:extLst>
                    <a:ext uri="{9D8B030D-6E8A-4147-A177-3AD203B41FA5}">
                      <a16:colId xmlns:a16="http://schemas.microsoft.com/office/drawing/2014/main" val="3094545943"/>
                    </a:ext>
                  </a:extLst>
                </a:gridCol>
              </a:tblGrid>
              <a:tr h="117034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800" u="sng" kern="100" dirty="0">
                          <a:effectLst/>
                          <a:latin typeface="+mj-lt"/>
                        </a:rPr>
                        <a:t>Corps de garde </a:t>
                      </a:r>
                      <a:r>
                        <a:rPr lang="fr-BE" sz="2800" b="1" u="sng" kern="100" dirty="0">
                          <a:effectLst/>
                          <a:latin typeface="+mj-lt"/>
                        </a:rPr>
                        <a:t>/ </a:t>
                      </a:r>
                      <a:r>
                        <a:rPr lang="fr-BE" sz="2800" i="1" u="sng" kern="100" dirty="0">
                          <a:solidFill>
                            <a:srgbClr val="00B0F0"/>
                          </a:solidFill>
                          <a:effectLst/>
                          <a:latin typeface="+mj-lt"/>
                        </a:rPr>
                        <a:t>Wachtlokaal</a:t>
                      </a:r>
                      <a:r>
                        <a:rPr lang="fr-BE" sz="2800" u="sng" kern="100" dirty="0">
                          <a:effectLst/>
                          <a:latin typeface="+mj-lt"/>
                        </a:rPr>
                        <a:t>: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800" b="1" u="sng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+32 (2)/44 29 100</a:t>
                      </a:r>
                      <a:endParaRPr lang="fr-BE" sz="2800" b="1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535" marR="89535" marT="0" marB="0"/>
                </a:tc>
                <a:extLst>
                  <a:ext uri="{0D108BD9-81ED-4DB2-BD59-A6C34878D82A}">
                    <a16:rowId xmlns:a16="http://schemas.microsoft.com/office/drawing/2014/main" val="1521025485"/>
                  </a:ext>
                </a:extLst>
              </a:tr>
            </a:tbl>
          </a:graphicData>
        </a:graphic>
      </p:graphicFrame>
      <p:pic>
        <p:nvPicPr>
          <p:cNvPr id="1027" name="Picture 3" descr="Pictogrammes standards d'indication ...">
            <a:extLst>
              <a:ext uri="{FF2B5EF4-FFF2-40B4-BE49-F238E27FC236}">
                <a16:creationId xmlns:a16="http://schemas.microsoft.com/office/drawing/2014/main" id="{B1098483-B612-C1CB-761A-59AAA170C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348990"/>
            <a:ext cx="751523" cy="75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370745F-D1D4-A0ED-1D9D-30F022BCF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646690"/>
              </p:ext>
            </p:extLst>
          </p:nvPr>
        </p:nvGraphicFramePr>
        <p:xfrm>
          <a:off x="1767840" y="4113530"/>
          <a:ext cx="4861560" cy="7515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61560">
                  <a:extLst>
                    <a:ext uri="{9D8B030D-6E8A-4147-A177-3AD203B41FA5}">
                      <a16:colId xmlns:a16="http://schemas.microsoft.com/office/drawing/2014/main" val="3510233691"/>
                    </a:ext>
                  </a:extLst>
                </a:gridCol>
              </a:tblGrid>
              <a:tr h="75152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1600" kern="100" dirty="0">
                          <a:effectLst/>
                          <a:latin typeface="+mj-lt"/>
                        </a:rPr>
                        <a:t>Info : endroit précis – type d’urgence – blessés, …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1600" i="1" kern="100" dirty="0">
                          <a:solidFill>
                            <a:srgbClr val="00B0F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Info :  juiste locatie – type noodgeval – gewonden, …</a:t>
                      </a:r>
                    </a:p>
                  </a:txBody>
                  <a:tcPr marL="89535" marR="89535" marT="0" marB="0"/>
                </a:tc>
                <a:extLst>
                  <a:ext uri="{0D108BD9-81ED-4DB2-BD59-A6C34878D82A}">
                    <a16:rowId xmlns:a16="http://schemas.microsoft.com/office/drawing/2014/main" val="1095270660"/>
                  </a:ext>
                </a:extLst>
              </a:tr>
            </a:tbl>
          </a:graphicData>
        </a:graphic>
      </p:graphicFrame>
      <p:sp>
        <p:nvSpPr>
          <p:cNvPr id="16" name="Rectangle 5">
            <a:extLst>
              <a:ext uri="{FF2B5EF4-FFF2-40B4-BE49-F238E27FC236}">
                <a16:creationId xmlns:a16="http://schemas.microsoft.com/office/drawing/2014/main" id="{97401400-AED2-CFC4-BBB4-86BFA5D34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8967" y="5240610"/>
            <a:ext cx="728069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BE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Si pas de réponse et urgence appeler les urgences  :</a:t>
            </a:r>
            <a:endParaRPr kumimoji="0" lang="fr-BE" altLang="fr-FR" sz="24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sz="1600" i="1" dirty="0">
                <a:solidFill>
                  <a:srgbClr val="00B0F0"/>
                </a:solidFill>
                <a:latin typeface="+mj-lt"/>
              </a:rPr>
              <a:t>Bij geen antwoord en in geval van nood, bel de hulpdiensten</a:t>
            </a:r>
            <a:endParaRPr kumimoji="0" lang="fr-BE" altLang="fr-FR" sz="1600" b="0" i="1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BE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(Ambulance – Brandweer – Pompiers – Police)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BE" altLang="fr-FR" sz="1600" dirty="0">
              <a:latin typeface="+mj-lt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BE" altLang="fr-FR" sz="1600" dirty="0">
              <a:latin typeface="+mj-lt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BE" altLang="fr-FR" sz="1600" dirty="0">
              <a:latin typeface="+mj-lt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BE" altLang="fr-FR" sz="1600" dirty="0">
              <a:latin typeface="+mj-lt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BE" altLang="fr-FR" sz="1600" dirty="0">
              <a:latin typeface="+mj-lt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BE" altLang="fr-FR" sz="1600" dirty="0">
                <a:latin typeface="+mj-lt"/>
                <a:cs typeface="Times New Roman" panose="02020603050405020304" pitchFamily="18" charset="0"/>
              </a:rPr>
              <a:t>E</a:t>
            </a:r>
            <a:r>
              <a:rPr kumimoji="0" lang="fr-BE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nsuite toujours contacter le Corps de garde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sz="1600" i="1" dirty="0">
                <a:solidFill>
                  <a:srgbClr val="00B0F0"/>
                </a:solidFill>
                <a:latin typeface="+mj-lt"/>
              </a:rPr>
              <a:t>Neem daarna altijd contact op met de wachtpost</a:t>
            </a:r>
            <a:endParaRPr kumimoji="0" lang="fr-BE" altLang="fr-FR" sz="1600" b="0" i="1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847B08-0511-F07D-25DA-F4E284B46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69" y="6394329"/>
            <a:ext cx="554784" cy="518205"/>
          </a:xfrm>
          <a:prstGeom prst="rect">
            <a:avLst/>
          </a:prstGeom>
        </p:spPr>
      </p:pic>
      <p:pic>
        <p:nvPicPr>
          <p:cNvPr id="18" name="Picture 5" descr="NOODCENTRALE 112 : BLIJF AAN DE LIJN ...">
            <a:extLst>
              <a:ext uri="{FF2B5EF4-FFF2-40B4-BE49-F238E27FC236}">
                <a16:creationId xmlns:a16="http://schemas.microsoft.com/office/drawing/2014/main" id="{B72AA07C-81CD-5023-184E-7F8F80D8C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188" y="6229510"/>
            <a:ext cx="1683623" cy="1004910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23" name="Rectangle 7">
            <a:extLst>
              <a:ext uri="{FF2B5EF4-FFF2-40B4-BE49-F238E27FC236}">
                <a16:creationId xmlns:a16="http://schemas.microsoft.com/office/drawing/2014/main" id="{6F700C0D-AE6F-C028-3E38-0943EC9C4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7702382"/>
            <a:ext cx="6324600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fr-BE" altLang="fr-FR" sz="1600" u="sng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BE" altLang="fr-FR" sz="16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BE" altLang="fr-FR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BE" altLang="fr-FR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Premiers secours</a:t>
            </a:r>
            <a:r>
              <a:rPr kumimoji="0" lang="fr-BE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/ </a:t>
            </a:r>
            <a:r>
              <a:rPr kumimoji="0" lang="fr-BE" altLang="fr-FR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EHBO</a:t>
            </a:r>
            <a:r>
              <a:rPr lang="fr-BE" altLang="fr-FR" sz="2000" b="1" u="sng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fr-BE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BE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BE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Infirmerie / </a:t>
            </a:r>
            <a:r>
              <a:rPr lang="fr-BE" sz="1600" b="1" i="1" dirty="0">
                <a:solidFill>
                  <a:srgbClr val="00B0F0"/>
                </a:solidFill>
              </a:rPr>
              <a:t>Verplegingspost</a:t>
            </a:r>
            <a:r>
              <a:rPr kumimoji="0" lang="fr-BE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(de/</a:t>
            </a:r>
            <a:r>
              <a:rPr kumimoji="0" lang="fr-BE" altLang="fr-FR" sz="1600" b="0" i="1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van</a:t>
            </a:r>
            <a:r>
              <a:rPr kumimoji="0" lang="fr-BE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07:30 à/</a:t>
            </a:r>
            <a:r>
              <a:rPr kumimoji="0" lang="fr-BE" altLang="fr-FR" sz="1600" b="0" i="1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tot</a:t>
            </a:r>
            <a:r>
              <a:rPr kumimoji="0" lang="fr-BE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16 :00) 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BE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kumimoji="0" lang="fr-BE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+32 (2) 44 29 111</a:t>
            </a:r>
            <a:endParaRPr kumimoji="0" lang="fr-BE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b="1" dirty="0"/>
              <a:t>Défibrillateur / Aanwezigheid AED :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altLang="fr-FR" b="1" dirty="0">
                <a:latin typeface="Arial" panose="020B0604020202020204" pitchFamily="34" charset="0"/>
              </a:rPr>
              <a:t>   </a:t>
            </a:r>
            <a:r>
              <a:rPr lang="nl-BE" altLang="fr-FR" b="1" u="sng" dirty="0">
                <a:latin typeface="Arial" panose="020B0604020202020204" pitchFamily="34" charset="0"/>
              </a:rPr>
              <a:t>a</a:t>
            </a:r>
            <a:r>
              <a:rPr kumimoji="0" lang="nl-BE" altLang="fr-FR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 </a:t>
            </a:r>
            <a:r>
              <a:rPr kumimoji="0" lang="nl-BE" altLang="fr-FR" sz="18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Poste</a:t>
            </a:r>
            <a:r>
              <a:rPr kumimoji="0" lang="nl-BE" altLang="fr-FR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garde / </a:t>
            </a:r>
            <a:r>
              <a:rPr kumimoji="0" lang="nl-BE" altLang="fr-FR" sz="1800" b="1" i="1" u="sng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bij het Wachtlokaal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BE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" name="Picture 23" descr="Pictogrammes premiers secours et boîte à pharmacie | Seton">
            <a:extLst>
              <a:ext uri="{FF2B5EF4-FFF2-40B4-BE49-F238E27FC236}">
                <a16:creationId xmlns:a16="http://schemas.microsoft.com/office/drawing/2014/main" id="{889FD73F-FF44-A440-3AAD-BD4784966D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" y="8356663"/>
            <a:ext cx="634365" cy="6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3DBD54A-0DCE-E75E-C28C-307923B4EA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96" y="9650594"/>
            <a:ext cx="634365" cy="634365"/>
          </a:xfrm>
          <a:prstGeom prst="rect">
            <a:avLst/>
          </a:prstGeom>
          <a:noFill/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46215AB-2057-C0BF-43B3-99480658C136}"/>
              </a:ext>
            </a:extLst>
          </p:cNvPr>
          <p:cNvSpPr/>
          <p:nvPr/>
        </p:nvSpPr>
        <p:spPr>
          <a:xfrm>
            <a:off x="182879" y="8265423"/>
            <a:ext cx="6492240" cy="233005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2E71E01-1B75-8101-85DE-B55BDBC4D08E}"/>
              </a:ext>
            </a:extLst>
          </p:cNvPr>
          <p:cNvCxnSpPr>
            <a:cxnSpLocks/>
          </p:cNvCxnSpPr>
          <p:nvPr/>
        </p:nvCxnSpPr>
        <p:spPr>
          <a:xfrm>
            <a:off x="182879" y="10789920"/>
            <a:ext cx="6492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607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197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      Localisation /   Camp Adjudant Brasseur     Localisatie           1A 4540 Amay      Bloc/Blok    Etage/Verdieping  Aile/Vleugel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Geneviève</dc:creator>
  <cp:lastModifiedBy>Taylor Geneviève</cp:lastModifiedBy>
  <cp:revision>1</cp:revision>
  <dcterms:created xsi:type="dcterms:W3CDTF">2025-09-17T10:54:07Z</dcterms:created>
  <dcterms:modified xsi:type="dcterms:W3CDTF">2025-10-16T10:34:44Z</dcterms:modified>
</cp:coreProperties>
</file>